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8F7576-BDD6-4BFF-B8A2-F03C7FFD0E0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28ECAA-032A-4DDE-970D-7DF04E44876C}">
      <dgm:prSet/>
      <dgm:spPr/>
      <dgm:t>
        <a:bodyPr/>
        <a:lstStyle/>
        <a:p>
          <a:r>
            <a:rPr lang="en-US"/>
            <a:t>Bar plot</a:t>
          </a:r>
        </a:p>
      </dgm:t>
    </dgm:pt>
    <dgm:pt modelId="{0BA0E552-D457-468C-BD07-6EE5937B4022}" type="parTrans" cxnId="{3E6B04D6-FD87-4389-92E1-D80167A6E742}">
      <dgm:prSet/>
      <dgm:spPr/>
      <dgm:t>
        <a:bodyPr/>
        <a:lstStyle/>
        <a:p>
          <a:endParaRPr lang="en-US"/>
        </a:p>
      </dgm:t>
    </dgm:pt>
    <dgm:pt modelId="{D27AFBFD-EAC7-45D3-B718-8E828923978F}" type="sibTrans" cxnId="{3E6B04D6-FD87-4389-92E1-D80167A6E742}">
      <dgm:prSet/>
      <dgm:spPr/>
      <dgm:t>
        <a:bodyPr/>
        <a:lstStyle/>
        <a:p>
          <a:endParaRPr lang="en-US"/>
        </a:p>
      </dgm:t>
    </dgm:pt>
    <dgm:pt modelId="{50D448B4-8AA6-4BED-BBE2-15407E8B46A6}">
      <dgm:prSet/>
      <dgm:spPr/>
      <dgm:t>
        <a:bodyPr/>
        <a:lstStyle/>
        <a:p>
          <a:r>
            <a:rPr lang="en-US"/>
            <a:t>Boxplot</a:t>
          </a:r>
        </a:p>
      </dgm:t>
    </dgm:pt>
    <dgm:pt modelId="{85AC1AF7-9D57-47B3-85B6-FA29A8706916}" type="parTrans" cxnId="{0BFE2993-696A-4A34-AADA-8C1B0B4BD67F}">
      <dgm:prSet/>
      <dgm:spPr/>
      <dgm:t>
        <a:bodyPr/>
        <a:lstStyle/>
        <a:p>
          <a:endParaRPr lang="en-US"/>
        </a:p>
      </dgm:t>
    </dgm:pt>
    <dgm:pt modelId="{7748D8E7-12A1-451C-A063-59AACCA59E57}" type="sibTrans" cxnId="{0BFE2993-696A-4A34-AADA-8C1B0B4BD67F}">
      <dgm:prSet/>
      <dgm:spPr/>
      <dgm:t>
        <a:bodyPr/>
        <a:lstStyle/>
        <a:p>
          <a:endParaRPr lang="en-US"/>
        </a:p>
      </dgm:t>
    </dgm:pt>
    <dgm:pt modelId="{D1FC95CD-26E1-4968-8762-63C370701FC2}">
      <dgm:prSet/>
      <dgm:spPr/>
      <dgm:t>
        <a:bodyPr/>
        <a:lstStyle/>
        <a:p>
          <a:r>
            <a:rPr lang="en-US"/>
            <a:t>Pie Chart</a:t>
          </a:r>
        </a:p>
      </dgm:t>
    </dgm:pt>
    <dgm:pt modelId="{16A8DBF4-28C5-4C07-AD73-CD5E9795BC10}" type="parTrans" cxnId="{74C945E3-86DD-4DD3-BE5B-C5A7D34889A4}">
      <dgm:prSet/>
      <dgm:spPr/>
      <dgm:t>
        <a:bodyPr/>
        <a:lstStyle/>
        <a:p>
          <a:endParaRPr lang="en-US"/>
        </a:p>
      </dgm:t>
    </dgm:pt>
    <dgm:pt modelId="{A66C1F26-A783-4283-9C75-0202E801551E}" type="sibTrans" cxnId="{74C945E3-86DD-4DD3-BE5B-C5A7D34889A4}">
      <dgm:prSet/>
      <dgm:spPr/>
      <dgm:t>
        <a:bodyPr/>
        <a:lstStyle/>
        <a:p>
          <a:endParaRPr lang="en-US"/>
        </a:p>
      </dgm:t>
    </dgm:pt>
    <dgm:pt modelId="{93A7BF02-B0F6-436A-9A88-31CEE5B24385}">
      <dgm:prSet/>
      <dgm:spPr/>
      <dgm:t>
        <a:bodyPr/>
        <a:lstStyle/>
        <a:p>
          <a:r>
            <a:rPr lang="en-US"/>
            <a:t>Line Plot</a:t>
          </a:r>
        </a:p>
      </dgm:t>
    </dgm:pt>
    <dgm:pt modelId="{EAC5936B-4330-4E12-9345-5AED943C10B6}" type="parTrans" cxnId="{5D4D918C-DE2E-4B80-9D58-FF6A6E207EFF}">
      <dgm:prSet/>
      <dgm:spPr/>
      <dgm:t>
        <a:bodyPr/>
        <a:lstStyle/>
        <a:p>
          <a:endParaRPr lang="en-US"/>
        </a:p>
      </dgm:t>
    </dgm:pt>
    <dgm:pt modelId="{8A17D202-2366-4CBF-855A-5FAAF6BCF3B0}" type="sibTrans" cxnId="{5D4D918C-DE2E-4B80-9D58-FF6A6E207EFF}">
      <dgm:prSet/>
      <dgm:spPr/>
      <dgm:t>
        <a:bodyPr/>
        <a:lstStyle/>
        <a:p>
          <a:endParaRPr lang="en-US"/>
        </a:p>
      </dgm:t>
    </dgm:pt>
    <dgm:pt modelId="{C564E31C-53EB-4893-BF71-D2EC2ECAED76}" type="pres">
      <dgm:prSet presAssocID="{688F7576-BDD6-4BFF-B8A2-F03C7FFD0E0A}" presName="matrix" presStyleCnt="0">
        <dgm:presLayoutVars>
          <dgm:chMax val="1"/>
          <dgm:dir/>
          <dgm:resizeHandles val="exact"/>
        </dgm:presLayoutVars>
      </dgm:prSet>
      <dgm:spPr/>
    </dgm:pt>
    <dgm:pt modelId="{0C99A215-59FC-4A61-B154-8F71EB6AB04A}" type="pres">
      <dgm:prSet presAssocID="{688F7576-BDD6-4BFF-B8A2-F03C7FFD0E0A}" presName="diamond" presStyleLbl="bgShp" presStyleIdx="0" presStyleCnt="1"/>
      <dgm:spPr/>
    </dgm:pt>
    <dgm:pt modelId="{15E75000-22E5-4857-A7A7-4CDCB9DF59D7}" type="pres">
      <dgm:prSet presAssocID="{688F7576-BDD6-4BFF-B8A2-F03C7FFD0E0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F2346F0-388E-4C9A-B5B5-60FB1D591EC7}" type="pres">
      <dgm:prSet presAssocID="{688F7576-BDD6-4BFF-B8A2-F03C7FFD0E0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A2B7CFB-3752-42A1-A9D4-DB6468C40839}" type="pres">
      <dgm:prSet presAssocID="{688F7576-BDD6-4BFF-B8A2-F03C7FFD0E0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9167273-40AA-46EB-B3F8-44BDE8E84BAE}" type="pres">
      <dgm:prSet presAssocID="{688F7576-BDD6-4BFF-B8A2-F03C7FFD0E0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5C0B058-DD8F-4605-928C-8EC96E357129}" type="presOf" srcId="{50D448B4-8AA6-4BED-BBE2-15407E8B46A6}" destId="{2F2346F0-388E-4C9A-B5B5-60FB1D591EC7}" srcOrd="0" destOrd="0" presId="urn:microsoft.com/office/officeart/2005/8/layout/matrix3"/>
    <dgm:cxn modelId="{5D4D918C-DE2E-4B80-9D58-FF6A6E207EFF}" srcId="{688F7576-BDD6-4BFF-B8A2-F03C7FFD0E0A}" destId="{93A7BF02-B0F6-436A-9A88-31CEE5B24385}" srcOrd="3" destOrd="0" parTransId="{EAC5936B-4330-4E12-9345-5AED943C10B6}" sibTransId="{8A17D202-2366-4CBF-855A-5FAAF6BCF3B0}"/>
    <dgm:cxn modelId="{51514791-6CD6-4FC3-A4E5-58F4BB3E4C4F}" type="presOf" srcId="{7528ECAA-032A-4DDE-970D-7DF04E44876C}" destId="{15E75000-22E5-4857-A7A7-4CDCB9DF59D7}" srcOrd="0" destOrd="0" presId="urn:microsoft.com/office/officeart/2005/8/layout/matrix3"/>
    <dgm:cxn modelId="{0BFE2993-696A-4A34-AADA-8C1B0B4BD67F}" srcId="{688F7576-BDD6-4BFF-B8A2-F03C7FFD0E0A}" destId="{50D448B4-8AA6-4BED-BBE2-15407E8B46A6}" srcOrd="1" destOrd="0" parTransId="{85AC1AF7-9D57-47B3-85B6-FA29A8706916}" sibTransId="{7748D8E7-12A1-451C-A063-59AACCA59E57}"/>
    <dgm:cxn modelId="{279E5DB4-64CE-49A8-8DD7-4227CE326EA6}" type="presOf" srcId="{D1FC95CD-26E1-4968-8762-63C370701FC2}" destId="{EA2B7CFB-3752-42A1-A9D4-DB6468C40839}" srcOrd="0" destOrd="0" presId="urn:microsoft.com/office/officeart/2005/8/layout/matrix3"/>
    <dgm:cxn modelId="{3E6B04D6-FD87-4389-92E1-D80167A6E742}" srcId="{688F7576-BDD6-4BFF-B8A2-F03C7FFD0E0A}" destId="{7528ECAA-032A-4DDE-970D-7DF04E44876C}" srcOrd="0" destOrd="0" parTransId="{0BA0E552-D457-468C-BD07-6EE5937B4022}" sibTransId="{D27AFBFD-EAC7-45D3-B718-8E828923978F}"/>
    <dgm:cxn modelId="{148B49D6-924C-41A7-96F6-F64BE97D667D}" type="presOf" srcId="{93A7BF02-B0F6-436A-9A88-31CEE5B24385}" destId="{39167273-40AA-46EB-B3F8-44BDE8E84BAE}" srcOrd="0" destOrd="0" presId="urn:microsoft.com/office/officeart/2005/8/layout/matrix3"/>
    <dgm:cxn modelId="{74C945E3-86DD-4DD3-BE5B-C5A7D34889A4}" srcId="{688F7576-BDD6-4BFF-B8A2-F03C7FFD0E0A}" destId="{D1FC95CD-26E1-4968-8762-63C370701FC2}" srcOrd="2" destOrd="0" parTransId="{16A8DBF4-28C5-4C07-AD73-CD5E9795BC10}" sibTransId="{A66C1F26-A783-4283-9C75-0202E801551E}"/>
    <dgm:cxn modelId="{CF3DEEE4-A1D4-4D35-9BF3-0C7FF9374FA5}" type="presOf" srcId="{688F7576-BDD6-4BFF-B8A2-F03C7FFD0E0A}" destId="{C564E31C-53EB-4893-BF71-D2EC2ECAED76}" srcOrd="0" destOrd="0" presId="urn:microsoft.com/office/officeart/2005/8/layout/matrix3"/>
    <dgm:cxn modelId="{3175AC70-3BE4-4B7E-B934-9683C32A963B}" type="presParOf" srcId="{C564E31C-53EB-4893-BF71-D2EC2ECAED76}" destId="{0C99A215-59FC-4A61-B154-8F71EB6AB04A}" srcOrd="0" destOrd="0" presId="urn:microsoft.com/office/officeart/2005/8/layout/matrix3"/>
    <dgm:cxn modelId="{F34FE3B6-DC2A-4FC9-971B-3EA00E69C6E6}" type="presParOf" srcId="{C564E31C-53EB-4893-BF71-D2EC2ECAED76}" destId="{15E75000-22E5-4857-A7A7-4CDCB9DF59D7}" srcOrd="1" destOrd="0" presId="urn:microsoft.com/office/officeart/2005/8/layout/matrix3"/>
    <dgm:cxn modelId="{85CD6ECE-3476-4DF1-B2A5-A2211125D4A2}" type="presParOf" srcId="{C564E31C-53EB-4893-BF71-D2EC2ECAED76}" destId="{2F2346F0-388E-4C9A-B5B5-60FB1D591EC7}" srcOrd="2" destOrd="0" presId="urn:microsoft.com/office/officeart/2005/8/layout/matrix3"/>
    <dgm:cxn modelId="{3E277E98-DFE1-4D90-840C-77F3CF184596}" type="presParOf" srcId="{C564E31C-53EB-4893-BF71-D2EC2ECAED76}" destId="{EA2B7CFB-3752-42A1-A9D4-DB6468C40839}" srcOrd="3" destOrd="0" presId="urn:microsoft.com/office/officeart/2005/8/layout/matrix3"/>
    <dgm:cxn modelId="{0005D367-F10F-4C75-8CD8-34BD588B9BB8}" type="presParOf" srcId="{C564E31C-53EB-4893-BF71-D2EC2ECAED76}" destId="{39167273-40AA-46EB-B3F8-44BDE8E84BA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9A215-59FC-4A61-B154-8F71EB6AB04A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75000-22E5-4857-A7A7-4CDCB9DF59D7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Bar plot</a:t>
          </a:r>
        </a:p>
      </dsp:txBody>
      <dsp:txXfrm>
        <a:off x="3845652" y="478140"/>
        <a:ext cx="1475545" cy="1475545"/>
      </dsp:txXfrm>
    </dsp:sp>
    <dsp:sp modelId="{2F2346F0-388E-4C9A-B5B5-60FB1D591EC7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Boxplot</a:t>
          </a:r>
        </a:p>
      </dsp:txBody>
      <dsp:txXfrm>
        <a:off x="5606630" y="478140"/>
        <a:ext cx="1475545" cy="1475545"/>
      </dsp:txXfrm>
    </dsp:sp>
    <dsp:sp modelId="{EA2B7CFB-3752-42A1-A9D4-DB6468C40839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Pie Chart</a:t>
          </a:r>
        </a:p>
      </dsp:txBody>
      <dsp:txXfrm>
        <a:off x="3845652" y="2239118"/>
        <a:ext cx="1475545" cy="1475545"/>
      </dsp:txXfrm>
    </dsp:sp>
    <dsp:sp modelId="{39167273-40AA-46EB-B3F8-44BDE8E84BAE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Line Plot</a:t>
          </a:r>
        </a:p>
      </dsp:txBody>
      <dsp:txXfrm>
        <a:off x="5606630" y="2239118"/>
        <a:ext cx="1475545" cy="1475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A62B9C-62A7-0748-713E-7EEC8451B1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55C69-DC80-7D64-BA40-7832A13897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43AFF-C5C1-4F15-8377-0D7C13F8343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B6246-375C-52FF-AA31-19772D242C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C83DC-255D-BE12-69EA-30A7902F6B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54646-38EC-4FD2-98D6-2822D66DC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043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ACCED-40A1-47B8-83FE-A69F0A40DE50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www.mouritech.com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8055B-50FC-4C2F-88DB-0E395DE271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2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8055B-50FC-4C2F-88DB-0E395DE2718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840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8DBD-D199-BABF-0F3E-38EF59228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DCA2F-5E49-F5B1-332A-365F9F0DF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56F85-D7D1-15C3-13A0-C812C650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C7326-3E74-432D-A699-DF1B3217BC37}" type="datetime1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B8F22-21F5-F466-6FF7-A622F728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4444D-C6FF-09DF-79B5-31AD3BA1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05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0408-F264-A69D-F9B7-7D326A59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EFBA2-CA53-8D86-F5FB-E37B0FFCA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42C9A-5C80-3EEA-4361-D42572C1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E00E-A7ED-44AA-8217-CA3A24BBBEDD}" type="datetime1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94A95-F84A-078B-3708-7B707D9D5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97DF8-D24D-904F-D0B8-A02BD5CB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12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2A0C-1FA7-CD85-669D-40A95A74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BDCC3-F21F-3435-968A-FFB0CF0DB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199DC-06C2-1BB4-9AA4-69DECC45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5896-A62B-455D-818F-0EA88A3DB275}" type="datetime1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7A157-BC1B-D63B-E247-FD6D5684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79CFE-7C86-8241-1C32-169DC664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70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2807-7483-E514-9743-E05B5F33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2ABF-EE29-571F-0FED-39F43836A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CF19E-748E-B26A-02B9-1521F5DAD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8983C-7736-24D2-8B32-0A99CF86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59ED-FAE9-402A-8536-2B7A4ACA29B5}" type="datetime1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D3395-403A-C72D-68F7-D0D5F2C6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9C387-959C-649F-5CB2-BBD1399E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39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E97F-E81F-406A-1996-AD5F0DF8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3A7CE-1BE6-13B4-B02F-B5CF215F2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65AFE-38B0-21CA-8BA0-42F4303D6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C6FD6-BB8F-0C82-5DAF-179846D74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5059F-DFB3-1029-8E49-2F20E8B6E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6715D-3AE1-CA47-D141-B3E258B3D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4A13-D20C-4025-A15F-D2D94D892F99}" type="datetime1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EA9521-92D6-9F2C-49F2-4647D28C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D26A7-FF0E-E65A-703D-E0E5EA0E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0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81B5-606C-B775-8FC6-0AD1D61B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FC7F3-4E80-BDD5-1A9F-1FF6D6E6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085B-D380-48CB-9C8B-32F3B18361D5}" type="datetime1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526C8-A2E2-6423-A4D2-30E5A722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25437-51D3-BF92-3F08-4C929147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8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A0FF0-47F4-ABD3-8A1F-64AA5660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D374-992F-4467-B6EB-CCCD4645D76C}" type="datetime1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046B3-3EB4-4FB2-6B65-37E0066A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96CB9-477D-DE6A-D8BD-489AA4AF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279B-ABD0-B143-E50A-B3C1162A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04B5C-66CC-DBEE-D470-F38E8C01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26284-8295-C4BB-2CF8-F00EA5B89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3492A-0481-558A-4C7B-4318CF56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96EB-D757-4A65-93B5-E3306D113349}" type="datetime1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5BA75-BD28-1792-78DB-905A634D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87C44-2207-A719-9323-84D5A72C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29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850A-E872-2096-7960-D95F016F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C550D-6A6A-D00C-5E60-BDE777528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A008E-371C-CC14-AB5F-065C05AB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49E55-F236-615D-40AD-BBC7CAE6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DA57-C80A-413D-B2D6-4AED0A7446FA}" type="datetime1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286CC-3ED8-D7CC-637F-C67169C8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FA64F-10C6-A31C-E88C-1B4B9F5F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2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69BD-EE60-1ECF-3EEC-F878C7BB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680B7-7F1F-77BC-B2D4-7B8554CE5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77B1-F112-5C31-C78E-5E0B8D05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B1BAD-2BDA-4942-8FA6-802166AD3DAA}" type="datetime1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7CB4-8341-684D-2B94-5B3F6624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8136F-A519-131F-0BB5-2934766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2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58BB2-D4F0-B379-7CC9-80290CF2B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B1E91-F125-3ED0-8FFB-947D2F9DC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2662B-4F25-C367-23B6-D28607C5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87EC3-6300-4DA5-ACA3-9A9595202301}" type="datetime1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DA330-B8F0-0EB4-F824-4E989613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B2DA7-D33F-A8B5-223C-A2E5BD4B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684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3C421D16-95BF-0A8E-B0FE-0A34C7CCBE43}"/>
              </a:ext>
            </a:extLst>
          </p:cNvPr>
          <p:cNvSpPr/>
          <p:nvPr userDrawn="1"/>
        </p:nvSpPr>
        <p:spPr>
          <a:xfrm flipV="1">
            <a:off x="0" y="6242033"/>
            <a:ext cx="4072019" cy="615967"/>
          </a:xfrm>
          <a:prstGeom prst="round1Rect">
            <a:avLst>
              <a:gd name="adj" fmla="val 0"/>
            </a:avLst>
          </a:prstGeom>
          <a:solidFill>
            <a:srgbClr val="0053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008D16DF-7023-F382-32F1-BF13E321492E}"/>
              </a:ext>
            </a:extLst>
          </p:cNvPr>
          <p:cNvSpPr/>
          <p:nvPr userDrawn="1"/>
        </p:nvSpPr>
        <p:spPr>
          <a:xfrm flipV="1">
            <a:off x="4072019" y="3884101"/>
            <a:ext cx="8119981" cy="2357932"/>
          </a:xfrm>
          <a:prstGeom prst="round1Rect">
            <a:avLst>
              <a:gd name="adj" fmla="val 0"/>
            </a:avLst>
          </a:prstGeom>
          <a:solidFill>
            <a:srgbClr val="0053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1873ED-CDF4-27CB-76CA-748D77B91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-1"/>
            <a:ext cx="9007365" cy="3888000"/>
          </a:xfr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5AC48-83C7-753D-73AC-60EC91AD96F8}"/>
              </a:ext>
            </a:extLst>
          </p:cNvPr>
          <p:cNvSpPr txBox="1"/>
          <p:nvPr userDrawn="1"/>
        </p:nvSpPr>
        <p:spPr>
          <a:xfrm>
            <a:off x="9270316" y="6423355"/>
            <a:ext cx="23103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>
                <a:solidFill>
                  <a:schemeClr val="tx1">
                    <a:lumMod val="95000"/>
                    <a:lumOff val="5000"/>
                  </a:schemeClr>
                </a:solidFill>
              </a:rPr>
              <a:t>www.mouritech.com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EB281-F4DC-EEA2-BC71-55F405446CD5}"/>
              </a:ext>
            </a:extLst>
          </p:cNvPr>
          <p:cNvSpPr txBox="1"/>
          <p:nvPr userDrawn="1"/>
        </p:nvSpPr>
        <p:spPr>
          <a:xfrm>
            <a:off x="363910" y="6423355"/>
            <a:ext cx="33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© 2024 MOURI Tech. All rights reserved.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90EC95F-44F4-AAD3-E717-F269001D3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4000" y="5385721"/>
            <a:ext cx="7398266" cy="37917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C540787-524B-001C-4665-C3DB74A23CF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5654" y="1409228"/>
            <a:ext cx="1794062" cy="1065644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47D3B7D-FFA7-7A24-23E9-74F4C020D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4001" y="4107021"/>
            <a:ext cx="7398266" cy="1180735"/>
          </a:xfrm>
        </p:spPr>
        <p:txBody>
          <a:bodyPr anchor="t" anchorCtr="0">
            <a:normAutofit/>
          </a:bodyPr>
          <a:lstStyle>
            <a:lvl1pPr algn="l">
              <a:lnSpc>
                <a:spcPct val="105000"/>
              </a:lnSpc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 descr="A logo with a globe and a blue ribbon around it&#10;&#10;Description automatically generated">
            <a:extLst>
              <a:ext uri="{FF2B5EF4-FFF2-40B4-BE49-F238E27FC236}">
                <a16:creationId xmlns:a16="http://schemas.microsoft.com/office/drawing/2014/main" id="{F7818BF0-AD85-1AA3-4941-76F1121723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4" b="8388"/>
          <a:stretch/>
        </p:blipFill>
        <p:spPr>
          <a:xfrm>
            <a:off x="977195" y="4238338"/>
            <a:ext cx="2117628" cy="1253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6803DB-3AD7-5555-D2FC-2C14DB8D860B}"/>
              </a:ext>
            </a:extLst>
          </p:cNvPr>
          <p:cNvSpPr txBox="1"/>
          <p:nvPr userDrawn="1"/>
        </p:nvSpPr>
        <p:spPr>
          <a:xfrm>
            <a:off x="0" y="5842444"/>
            <a:ext cx="4072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/>
              <a:t>Global Enterprise </a:t>
            </a:r>
            <a:r>
              <a:rPr lang="en-IN" sz="1200" b="1">
                <a:solidFill>
                  <a:srgbClr val="00B0F0"/>
                </a:solidFill>
              </a:rPr>
              <a:t>i</a:t>
            </a:r>
            <a:r>
              <a:rPr lang="en-IN" sz="1200" b="1"/>
              <a:t>Solutions Provider</a:t>
            </a:r>
          </a:p>
        </p:txBody>
      </p:sp>
    </p:spTree>
    <p:extLst>
      <p:ext uri="{BB962C8B-B14F-4D97-AF65-F5344CB8AC3E}">
        <p14:creationId xmlns:p14="http://schemas.microsoft.com/office/powerpoint/2010/main" val="315214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2F0E13-711C-A706-C34C-C3975E73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EC0BA-8798-AE19-AB9F-46A51CBB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208B3-E872-973C-61A7-C7B0FCFFC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6581C-CB9B-4968-AA94-2DDA62B9FD1F}" type="datetime1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522F6-5FAF-E032-18CF-E41AC654A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D82EA-2B32-2B84-B89C-A558C2A13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21CD7-1FEF-4B6D-863A-C3D71CD13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0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person holding a computer&#10;&#10;Description automatically generated">
            <a:extLst>
              <a:ext uri="{FF2B5EF4-FFF2-40B4-BE49-F238E27FC236}">
                <a16:creationId xmlns:a16="http://schemas.microsoft.com/office/drawing/2014/main" id="{2FC1F3AC-47E1-AEA3-2CC9-D0D521C0036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" b="5"/>
          <a:stretch/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C824FD-D3BF-F8D0-3CF2-F499C059F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4000" y="4107021"/>
            <a:ext cx="7437947" cy="100684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ML &amp; DS Training -  Python</a:t>
            </a:r>
            <a:br>
              <a:rPr lang="en-US" b="1" dirty="0"/>
            </a:br>
            <a:endParaRPr lang="en-US" sz="3200" b="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E2E0B85-A5E7-77F6-C8F1-2B0C9944DD51}"/>
              </a:ext>
            </a:extLst>
          </p:cNvPr>
          <p:cNvSpPr txBox="1">
            <a:spLocks/>
          </p:cNvSpPr>
          <p:nvPr/>
        </p:nvSpPr>
        <p:spPr>
          <a:xfrm>
            <a:off x="4503682" y="5448772"/>
            <a:ext cx="7398266" cy="723396"/>
          </a:xfrm>
          <a:prstGeom prst="rect">
            <a:avLst/>
          </a:prstGeom>
        </p:spPr>
        <p:txBody>
          <a:bodyPr vert="horz" lIns="90000" tIns="45720" rIns="9000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28</a:t>
            </a:r>
            <a:r>
              <a:rPr lang="en-US" sz="1800" baseline="30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</a:t>
            </a:r>
            <a:r>
              <a:rPr lang="en-US" sz="1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April 2025</a:t>
            </a:r>
          </a:p>
        </p:txBody>
      </p:sp>
    </p:spTree>
    <p:extLst>
      <p:ext uri="{BB962C8B-B14F-4D97-AF65-F5344CB8AC3E}">
        <p14:creationId xmlns:p14="http://schemas.microsoft.com/office/powerpoint/2010/main" val="333405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1972-74EC-7255-C223-D192DE46D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872" y="177983"/>
            <a:ext cx="5471410" cy="742010"/>
          </a:xfrm>
        </p:spPr>
        <p:txBody>
          <a:bodyPr>
            <a:normAutofit/>
          </a:bodyPr>
          <a:lstStyle/>
          <a:p>
            <a:pPr algn="l"/>
            <a:r>
              <a:rPr lang="en-IN" sz="4000" dirty="0"/>
              <a:t>What is Big Data?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EF8B1-7504-A61A-140E-0997F935A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803" y="1094281"/>
            <a:ext cx="11527436" cy="544142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Big Data</a:t>
            </a:r>
            <a:r>
              <a:rPr lang="en-US" dirty="0"/>
              <a:t> refers to </a:t>
            </a:r>
            <a:r>
              <a:rPr lang="en-US" b="1" dirty="0"/>
              <a:t>extremely large and complex datasets</a:t>
            </a:r>
            <a:r>
              <a:rPr lang="en-US" dirty="0"/>
              <a:t> that are </a:t>
            </a:r>
            <a:r>
              <a:rPr lang="en-US" b="1" dirty="0"/>
              <a:t>too big for traditional data-processing tools</a:t>
            </a:r>
            <a:r>
              <a:rPr lang="en-US" dirty="0"/>
              <a:t> (like Excel or basic databases) to handle efficiently.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Big Data is not just about having </a:t>
            </a:r>
            <a:r>
              <a:rPr lang="en-US" i="1" dirty="0"/>
              <a:t>lots</a:t>
            </a:r>
            <a:r>
              <a:rPr lang="en-US" dirty="0"/>
              <a:t> of data — it's about using that data smartly to create real-world value. Big Data is typically described by the </a:t>
            </a:r>
            <a:r>
              <a:rPr lang="en-US" b="1" dirty="0"/>
              <a:t>"5 Vs"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74A63B-49C4-206F-81D9-F0BCA2E91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290238"/>
              </p:ext>
            </p:extLst>
          </p:nvPr>
        </p:nvGraphicFramePr>
        <p:xfrm>
          <a:off x="364761" y="3023917"/>
          <a:ext cx="11462478" cy="3566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25077">
                  <a:extLst>
                    <a:ext uri="{9D8B030D-6E8A-4147-A177-3AD203B41FA5}">
                      <a16:colId xmlns:a16="http://schemas.microsoft.com/office/drawing/2014/main" val="581817141"/>
                    </a:ext>
                  </a:extLst>
                </a:gridCol>
                <a:gridCol w="6016575">
                  <a:extLst>
                    <a:ext uri="{9D8B030D-6E8A-4147-A177-3AD203B41FA5}">
                      <a16:colId xmlns:a16="http://schemas.microsoft.com/office/drawing/2014/main" val="2825098955"/>
                    </a:ext>
                  </a:extLst>
                </a:gridCol>
                <a:gridCol w="3820826">
                  <a:extLst>
                    <a:ext uri="{9D8B030D-6E8A-4147-A177-3AD203B41FA5}">
                      <a16:colId xmlns:a16="http://schemas.microsoft.com/office/drawing/2014/main" val="1689824695"/>
                    </a:ext>
                  </a:extLst>
                </a:gridCol>
              </a:tblGrid>
              <a:tr h="266943"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Means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87696"/>
                  </a:ext>
                </a:extLst>
              </a:tr>
              <a:tr h="467150">
                <a:tc>
                  <a:txBody>
                    <a:bodyPr/>
                    <a:lstStyle/>
                    <a:p>
                      <a:r>
                        <a:rPr lang="en-IN" b="0" dirty="0"/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amount of data is massive.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Facebook processes </a:t>
                      </a:r>
                      <a:r>
                        <a:rPr lang="en-US" b="1" dirty="0"/>
                        <a:t>over 4 petabytes</a:t>
                      </a:r>
                      <a:r>
                        <a:rPr lang="en-US" dirty="0"/>
                        <a:t> of data per day.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17985"/>
                  </a:ext>
                </a:extLst>
              </a:tr>
              <a:tr h="467150">
                <a:tc>
                  <a:txBody>
                    <a:bodyPr/>
                    <a:lstStyle/>
                    <a:p>
                      <a:r>
                        <a:rPr lang="en-IN" dirty="0"/>
                        <a:t>Velocity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is generated very quickly and needs to be processed fast.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 card fraud detection must happen in milliseconds.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549368"/>
                  </a:ext>
                </a:extLst>
              </a:tr>
              <a:tr h="467150">
                <a:tc>
                  <a:txBody>
                    <a:bodyPr/>
                    <a:lstStyle/>
                    <a:p>
                      <a:r>
                        <a:rPr lang="en-IN" dirty="0"/>
                        <a:t>Variety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comes in different formats: text, images, videos, sensor data,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Tweets, YouTube videos, IoT sensor data.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605437"/>
                  </a:ext>
                </a:extLst>
              </a:tr>
              <a:tr h="467150">
                <a:tc>
                  <a:txBody>
                    <a:bodyPr/>
                    <a:lstStyle/>
                    <a:p>
                      <a:r>
                        <a:rPr lang="en-IN" dirty="0"/>
                        <a:t>Veracity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can be messy, noisy, or incomplete, so it requires careful handling.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reviews — some are fake, some are genuine.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228316"/>
                  </a:ext>
                </a:extLst>
              </a:tr>
              <a:tr h="467150"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ultimate goal is to extract useful insights that drive actions and business outcomes.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Analyzing purchase patterns to recommend products.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845263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09A753C-2820-C31C-34C2-405915AF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www.mouritech.com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ED11D54-00A5-5697-6F36-78E6E737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7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4689A-7146-5343-DA43-FDE1BA042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Data Science, Machine Learning, and AI Are Essential for Every Modern Company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56C7B-B3B2-42EA-27FF-6D908C7F3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7" y="1891970"/>
            <a:ext cx="11032760" cy="4523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dirty="0"/>
              <a:t>Data is the New Oil: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Every company is producing data — but only those who analyze it create value.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Data Science extracts actionable insights from raw information.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Amazon uses customer purchase data to forecast demand and optimize inventory worldwide.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3F151-25B7-E940-3143-F5094D53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www.mouritech.com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1D107-8257-6398-9BAF-85E34A5B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2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55340-2B96-1E7C-FCAF-E2563735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From Intuition to Intelligence — Smarter, Faster,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2549F-D80C-E3B1-1360-2F52AFEA9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Human intuition is powerful but </a:t>
            </a:r>
            <a:r>
              <a:rPr lang="en-US" sz="2000" b="1" dirty="0"/>
              <a:t>limited by bias and scope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Data Science models</a:t>
            </a:r>
            <a:r>
              <a:rPr lang="en-US" sz="2000" dirty="0"/>
              <a:t> combine historical data, real-time data, and predictive analytics to guide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Result:</a:t>
            </a:r>
            <a:r>
              <a:rPr lang="en-US" sz="2000" dirty="0"/>
              <a:t> More accurate forecasts, less risk, and evidence-backed strategies.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Real-World Example:</a:t>
            </a:r>
            <a:br>
              <a:rPr lang="en-US" sz="2000" dirty="0"/>
            </a:br>
            <a:r>
              <a:rPr lang="en-US" sz="2000" dirty="0"/>
              <a:t>American Express uses machine learning to </a:t>
            </a:r>
            <a:r>
              <a:rPr lang="en-US" sz="2000" b="1" dirty="0"/>
              <a:t>predict fraud</a:t>
            </a:r>
            <a:r>
              <a:rPr lang="en-US" sz="2000" dirty="0"/>
              <a:t> within milliseconds during a transaction, protecting billions in assets annually.</a:t>
            </a:r>
          </a:p>
          <a:p>
            <a:endParaRPr lang="en-IN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EFD42-3C6F-BE7A-0F0F-68E9B521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744EA-E94B-249B-3523-5EB65DD1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23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EED4FE-8050-43A4-5B8F-B7FE9CA11FEA}"/>
              </a:ext>
            </a:extLst>
          </p:cNvPr>
          <p:cNvSpPr txBox="1"/>
          <p:nvPr/>
        </p:nvSpPr>
        <p:spPr>
          <a:xfrm>
            <a:off x="494675" y="419725"/>
            <a:ext cx="1128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Machine Learning </a:t>
            </a:r>
            <a:r>
              <a:rPr lang="en-US" dirty="0"/>
              <a:t>Is a type of Artificial Intelligence that provides computers with the ability to learn without being explicitly programmed.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21F4F5-AA85-7442-608C-D0EB0D125869}"/>
              </a:ext>
            </a:extLst>
          </p:cNvPr>
          <p:cNvSpPr/>
          <p:nvPr/>
        </p:nvSpPr>
        <p:spPr>
          <a:xfrm>
            <a:off x="719528" y="1873770"/>
            <a:ext cx="2563318" cy="109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Labeled data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276D6-C931-EF38-CAAF-16F65458DE89}"/>
              </a:ext>
            </a:extLst>
          </p:cNvPr>
          <p:cNvSpPr/>
          <p:nvPr/>
        </p:nvSpPr>
        <p:spPr>
          <a:xfrm>
            <a:off x="4856813" y="1873770"/>
            <a:ext cx="2563318" cy="109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Learning Algorithm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9CE445-E744-2C36-17E8-851645E8F9DF}"/>
              </a:ext>
            </a:extLst>
          </p:cNvPr>
          <p:cNvSpPr/>
          <p:nvPr/>
        </p:nvSpPr>
        <p:spPr>
          <a:xfrm>
            <a:off x="749509" y="3775766"/>
            <a:ext cx="2563318" cy="109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E09D86-EF00-6D2F-D89E-9EE29B01A7C1}"/>
              </a:ext>
            </a:extLst>
          </p:cNvPr>
          <p:cNvSpPr/>
          <p:nvPr/>
        </p:nvSpPr>
        <p:spPr>
          <a:xfrm>
            <a:off x="4856813" y="3775766"/>
            <a:ext cx="2563318" cy="109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Learned Model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0D84B-B931-F891-56DF-476E36B5E398}"/>
              </a:ext>
            </a:extLst>
          </p:cNvPr>
          <p:cNvSpPr/>
          <p:nvPr/>
        </p:nvSpPr>
        <p:spPr>
          <a:xfrm>
            <a:off x="8701790" y="3775766"/>
            <a:ext cx="2563318" cy="109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Prediction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EFDD4F-F4C1-B47C-6445-291F3D643E8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282846" y="2420911"/>
            <a:ext cx="15739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AD1F08-5D62-0363-EA74-2B60A0D0DB3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312827" y="4322907"/>
            <a:ext cx="1543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F9AD80-6465-449E-AE78-1257522536F5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6138472" y="2968052"/>
            <a:ext cx="0" cy="807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9FB7B18-716F-97D8-9D67-E72FD6CDC98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420131" y="4322907"/>
            <a:ext cx="12816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CB2FF8-74B5-E70D-068B-DA7ABE439B69}"/>
              </a:ext>
            </a:extLst>
          </p:cNvPr>
          <p:cNvCxnSpPr/>
          <p:nvPr/>
        </p:nvCxnSpPr>
        <p:spPr>
          <a:xfrm>
            <a:off x="494675" y="3429000"/>
            <a:ext cx="11287594" cy="108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393FA0A-6E36-938E-B4AD-B01302C3793C}"/>
              </a:ext>
            </a:extLst>
          </p:cNvPr>
          <p:cNvCxnSpPr/>
          <p:nvPr/>
        </p:nvCxnSpPr>
        <p:spPr>
          <a:xfrm>
            <a:off x="494675" y="3429000"/>
            <a:ext cx="0" cy="2162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02F4A8-5E6B-1C44-339E-BC7E4F90B03B}"/>
              </a:ext>
            </a:extLst>
          </p:cNvPr>
          <p:cNvCxnSpPr/>
          <p:nvPr/>
        </p:nvCxnSpPr>
        <p:spPr>
          <a:xfrm>
            <a:off x="494675" y="5591331"/>
            <a:ext cx="11287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B1BB86-282C-4201-7F42-83473500EEC3}"/>
              </a:ext>
            </a:extLst>
          </p:cNvPr>
          <p:cNvCxnSpPr/>
          <p:nvPr/>
        </p:nvCxnSpPr>
        <p:spPr>
          <a:xfrm>
            <a:off x="11782269" y="3537679"/>
            <a:ext cx="0" cy="2053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8098F29-9355-22D3-6D8B-E0C8A032F400}"/>
              </a:ext>
            </a:extLst>
          </p:cNvPr>
          <p:cNvSpPr txBox="1"/>
          <p:nvPr/>
        </p:nvSpPr>
        <p:spPr>
          <a:xfrm>
            <a:off x="869431" y="5108135"/>
            <a:ext cx="128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6BD5DD-E54B-1F89-3D17-582A57C78A7C}"/>
              </a:ext>
            </a:extLst>
          </p:cNvPr>
          <p:cNvSpPr txBox="1"/>
          <p:nvPr/>
        </p:nvSpPr>
        <p:spPr>
          <a:xfrm>
            <a:off x="989352" y="1410348"/>
            <a:ext cx="176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</a:t>
            </a:r>
            <a:endParaRPr lang="en-IN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16D422AA-6CB0-171F-E277-30A673E2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C4F52C7F-DC4B-2E98-36BB-534E081E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89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23E08-409F-746F-8553-0BE64A62F55F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Applications of Machine Learning and Deep Learning Across Industries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002642-7A4C-0D9C-B66E-76BCB407A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54980"/>
              </p:ext>
            </p:extLst>
          </p:nvPr>
        </p:nvGraphicFramePr>
        <p:xfrm>
          <a:off x="938277" y="1966293"/>
          <a:ext cx="10315447" cy="445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98170">
                  <a:extLst>
                    <a:ext uri="{9D8B030D-6E8A-4147-A177-3AD203B41FA5}">
                      <a16:colId xmlns:a16="http://schemas.microsoft.com/office/drawing/2014/main" val="566825888"/>
                    </a:ext>
                  </a:extLst>
                </a:gridCol>
                <a:gridCol w="2751247">
                  <a:extLst>
                    <a:ext uri="{9D8B030D-6E8A-4147-A177-3AD203B41FA5}">
                      <a16:colId xmlns:a16="http://schemas.microsoft.com/office/drawing/2014/main" val="1575978172"/>
                    </a:ext>
                  </a:extLst>
                </a:gridCol>
                <a:gridCol w="2824126">
                  <a:extLst>
                    <a:ext uri="{9D8B030D-6E8A-4147-A177-3AD203B41FA5}">
                      <a16:colId xmlns:a16="http://schemas.microsoft.com/office/drawing/2014/main" val="1848381715"/>
                    </a:ext>
                  </a:extLst>
                </a:gridCol>
                <a:gridCol w="2741904">
                  <a:extLst>
                    <a:ext uri="{9D8B030D-6E8A-4147-A177-3AD203B41FA5}">
                      <a16:colId xmlns:a16="http://schemas.microsoft.com/office/drawing/2014/main" val="1294381949"/>
                    </a:ext>
                  </a:extLst>
                </a:gridCol>
              </a:tblGrid>
              <a:tr h="328492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Area / Industry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Machine Learning Use Cases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Deep Learning Use Cases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Real-World Simple Example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934194676"/>
                  </a:ext>
                </a:extLst>
              </a:tr>
              <a:tr h="75903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Marketing</a:t>
                      </a:r>
                      <a:endParaRPr lang="en-IN" sz="1400">
                        <a:effectLst/>
                      </a:endParaRP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Customer segmentation, lead scoring, churn prediction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Personalized content recommendation, automated ad targeting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Netflix suggests shows based on your watch history.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3126076348"/>
                  </a:ext>
                </a:extLst>
              </a:tr>
              <a:tr h="543764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Automotive</a:t>
                      </a:r>
                      <a:endParaRPr lang="en-IN" sz="1400">
                        <a:effectLst/>
                      </a:endParaRP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Predictive maintenance, driver behavior analysis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Autonomous driving (self-driving cars), object detection on roads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Tesla cars detect traffic lights and pedestrians automatically.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1973184102"/>
                  </a:ext>
                </a:extLst>
              </a:tr>
              <a:tr h="75903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Surveillance</a:t>
                      </a:r>
                      <a:endParaRPr lang="en-IN" sz="1400">
                        <a:effectLst/>
                      </a:endParaRP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Anomaly detection in security logs, predictive policing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Real-time facial recognition, behavior recognition from video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Airports use AI cameras to recognize wanted individuals in crowds.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4276242807"/>
                  </a:ext>
                </a:extLst>
              </a:tr>
              <a:tr h="75903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Life Sciences</a:t>
                      </a:r>
                      <a:endParaRPr lang="en-IN" sz="1400">
                        <a:effectLst/>
                      </a:endParaRP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Drug discovery prediction, patient risk scoring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Protein structure prediction, disease diagnosis from imaging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AI helped predict COVID-19 protein structures faster than labs could.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1589104722"/>
                  </a:ext>
                </a:extLst>
              </a:tr>
              <a:tr h="543764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Speech Recognition</a:t>
                      </a:r>
                      <a:endParaRPr lang="en-IN" sz="1400">
                        <a:effectLst/>
                      </a:endParaRP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Voice command classification, call center routing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Natural language processing (NLP), real-time speech-to-text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Siri and Alexa understand your voice commands instantly.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1208403695"/>
                  </a:ext>
                </a:extLst>
              </a:tr>
              <a:tr h="75903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Entertainment</a:t>
                      </a:r>
                      <a:endParaRPr lang="en-IN" sz="1400">
                        <a:effectLst/>
                      </a:endParaRP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User rating prediction, trend forecasting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Automated video tagging, music generation</a:t>
                      </a:r>
                    </a:p>
                  </a:txBody>
                  <a:tcPr marL="70165" marR="70165" marT="35083" marB="350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Spotify creates playlists ("Discover Weekly") based on your taste.</a:t>
                      </a:r>
                    </a:p>
                  </a:txBody>
                  <a:tcPr marL="70165" marR="70165" marT="35083" marB="35083" anchor="ctr"/>
                </a:tc>
                <a:extLst>
                  <a:ext uri="{0D108BD9-81ED-4DB2-BD59-A6C34878D82A}">
                    <a16:rowId xmlns:a16="http://schemas.microsoft.com/office/drawing/2014/main" val="1941273863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C4272DB-709D-5129-E6CF-F218E9F6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6FE1E1-9C85-BECA-D30F-755A5A9C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4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491F9-D5CC-05F9-FD31-D0F89ADF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B2028-C4F0-8C5B-B2F6-0C4BFA68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B5C757AA-3AC9-8006-AEED-8A5097D41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 b="21451"/>
          <a:stretch/>
        </p:blipFill>
        <p:spPr>
          <a:xfrm>
            <a:off x="291683" y="1379094"/>
            <a:ext cx="3592773" cy="4977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DD9536-7F86-DDD4-BC16-EC262CE0E9CE}"/>
              </a:ext>
            </a:extLst>
          </p:cNvPr>
          <p:cNvSpPr txBox="1"/>
          <p:nvPr/>
        </p:nvSpPr>
        <p:spPr>
          <a:xfrm>
            <a:off x="104932" y="85156"/>
            <a:ext cx="4542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Typical Data Science Projects Life Cycle: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1002C2-EB84-027C-560A-F35CF15A8C30}"/>
              </a:ext>
            </a:extLst>
          </p:cNvPr>
          <p:cNvSpPr txBox="1"/>
          <p:nvPr/>
        </p:nvSpPr>
        <p:spPr>
          <a:xfrm>
            <a:off x="7689954" y="73567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AGENDA</a:t>
            </a:r>
            <a:endParaRPr lang="en-IN" sz="2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0EDC64-1196-2D38-5171-A6DB3CA9E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828623"/>
              </p:ext>
            </p:extLst>
          </p:nvPr>
        </p:nvGraphicFramePr>
        <p:xfrm>
          <a:off x="4863683" y="1166235"/>
          <a:ext cx="7036634" cy="49377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518317">
                  <a:extLst>
                    <a:ext uri="{9D8B030D-6E8A-4147-A177-3AD203B41FA5}">
                      <a16:colId xmlns:a16="http://schemas.microsoft.com/office/drawing/2014/main" val="3423624635"/>
                    </a:ext>
                  </a:extLst>
                </a:gridCol>
                <a:gridCol w="3518317">
                  <a:extLst>
                    <a:ext uri="{9D8B030D-6E8A-4147-A177-3AD203B41FA5}">
                      <a16:colId xmlns:a16="http://schemas.microsoft.com/office/drawing/2014/main" val="1803889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Topic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Description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529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Python Installation and Hands-on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Setting up Python environment; experiencing basic scripting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213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Basics of Statistics and Data Visualization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Understanding key statistical concepts; creating visual insights using charts and graphs.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10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Data Mining — Supervised &amp; Unsupervised Learning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Introduction to machine learning models for classification, regression, and clustering tasks.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35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Forecasting Models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Building predictive models to forecast future trends based on historical data patterns.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76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Fundamentals of Generative AI (GENAI)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Overview of RAG (Retrieval-Augmented Generation), AI Agents, and their workflows for modern AI applications.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56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44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3AA2-5976-C09F-F0AB-7139500A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3" y="136525"/>
            <a:ext cx="5037944" cy="792865"/>
          </a:xfrm>
        </p:spPr>
        <p:txBody>
          <a:bodyPr/>
          <a:lstStyle/>
          <a:p>
            <a:r>
              <a:rPr lang="en-US" dirty="0"/>
              <a:t>Basics of Statistics: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C50A-DD1F-1A7E-DFFB-38D9C6A91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23" y="1049311"/>
            <a:ext cx="11160177" cy="512765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Data Types:</a:t>
            </a:r>
          </a:p>
          <a:p>
            <a:pPr marL="514350" indent="-514350">
              <a:buAutoNum type="arabicPeriod"/>
            </a:pPr>
            <a:r>
              <a:rPr lang="en-US" sz="2800" dirty="0"/>
              <a:t>Continuous – Is something which can be represented in decimals.</a:t>
            </a:r>
          </a:p>
          <a:p>
            <a:pPr marL="0" indent="0">
              <a:buNone/>
            </a:pPr>
            <a:r>
              <a:rPr lang="en-US" sz="2800" dirty="0"/>
              <a:t>	Ex: Length, Weight, Currency</a:t>
            </a:r>
          </a:p>
          <a:p>
            <a:pPr marL="514350" indent="-514350">
              <a:buAutoNum type="arabicPeriod" startAt="2"/>
            </a:pPr>
            <a:r>
              <a:rPr lang="en-IN" sz="2800" dirty="0"/>
              <a:t>Discrete – Is something which cannot be represented in Non-Decimals</a:t>
            </a:r>
          </a:p>
          <a:p>
            <a:pPr marL="0" indent="0">
              <a:buNone/>
            </a:pPr>
            <a:r>
              <a:rPr lang="en-IN" dirty="0"/>
              <a:t>	Ex: Number or cars, Number of laptops etc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31625-3C49-0251-D09F-444E7844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5906A-F81A-DBF5-3941-B957F72D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8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272EF-05CA-D1B1-E9A9-893A286208F1}"/>
              </a:ext>
            </a:extLst>
          </p:cNvPr>
          <p:cNvSpPr txBox="1"/>
          <p:nvPr/>
        </p:nvSpPr>
        <p:spPr>
          <a:xfrm>
            <a:off x="220028" y="136525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Preliminaries: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Nominal, Ordinal, Interval, Ratio – kind of data types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CE0F1-4BCB-AAB0-430B-CE986C8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521CD7-1FEF-4B6D-863A-C3D71CD13E9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9271CC-F37A-1E24-1FCA-B137B7D44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51895"/>
              </p:ext>
            </p:extLst>
          </p:nvPr>
        </p:nvGraphicFramePr>
        <p:xfrm>
          <a:off x="220028" y="2144466"/>
          <a:ext cx="11654844" cy="393165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71304">
                  <a:extLst>
                    <a:ext uri="{9D8B030D-6E8A-4147-A177-3AD203B41FA5}">
                      <a16:colId xmlns:a16="http://schemas.microsoft.com/office/drawing/2014/main" val="704434519"/>
                    </a:ext>
                  </a:extLst>
                </a:gridCol>
                <a:gridCol w="4711674">
                  <a:extLst>
                    <a:ext uri="{9D8B030D-6E8A-4147-A177-3AD203B41FA5}">
                      <a16:colId xmlns:a16="http://schemas.microsoft.com/office/drawing/2014/main" val="3837573474"/>
                    </a:ext>
                  </a:extLst>
                </a:gridCol>
                <a:gridCol w="4871866">
                  <a:extLst>
                    <a:ext uri="{9D8B030D-6E8A-4147-A177-3AD203B41FA5}">
                      <a16:colId xmlns:a16="http://schemas.microsoft.com/office/drawing/2014/main" val="1286337825"/>
                    </a:ext>
                  </a:extLst>
                </a:gridCol>
              </a:tblGrid>
              <a:tr h="407975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Data Type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What it Means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Simple Layman Example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extLst>
                  <a:ext uri="{0D108BD9-81ED-4DB2-BD59-A6C34878D82A}">
                    <a16:rowId xmlns:a16="http://schemas.microsoft.com/office/drawing/2014/main" val="2166363026"/>
                  </a:ext>
                </a:extLst>
              </a:tr>
              <a:tr h="678229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Nominal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effectLst/>
                        </a:rPr>
                        <a:t>Just names or labels. No particular order or ranking.</a:t>
                      </a: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- Hair Color: Black, Brown, Blonde, Red </a:t>
                      </a:r>
                      <a:br>
                        <a:rPr lang="en-US" sz="1700">
                          <a:effectLst/>
                        </a:rPr>
                      </a:br>
                      <a:r>
                        <a:rPr lang="en-US" sz="1700">
                          <a:effectLst/>
                        </a:rPr>
                        <a:t>- City Name: Paris, Tokyo, New York</a:t>
                      </a:r>
                    </a:p>
                  </a:txBody>
                  <a:tcPr marL="89052" marR="89052" marT="44526" marB="44526" anchor="ctr"/>
                </a:tc>
                <a:extLst>
                  <a:ext uri="{0D108BD9-81ED-4DB2-BD59-A6C34878D82A}">
                    <a16:rowId xmlns:a16="http://schemas.microsoft.com/office/drawing/2014/main" val="1484493693"/>
                  </a:ext>
                </a:extLst>
              </a:tr>
              <a:tr h="948483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Ordinal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Data with a specific order, but differences between values are not meaningful.</a:t>
                      </a: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- Movie Ratings: Bad, Average, Good, Excellent </a:t>
                      </a:r>
                      <a:br>
                        <a:rPr lang="en-US" sz="1700">
                          <a:effectLst/>
                        </a:rPr>
                      </a:br>
                      <a:r>
                        <a:rPr lang="en-US" sz="1700">
                          <a:effectLst/>
                        </a:rPr>
                        <a:t>- Customer Feedback: Poor, Fair, Good, Very Good, Excellent</a:t>
                      </a:r>
                    </a:p>
                  </a:txBody>
                  <a:tcPr marL="89052" marR="89052" marT="44526" marB="44526" anchor="ctr"/>
                </a:tc>
                <a:extLst>
                  <a:ext uri="{0D108BD9-81ED-4DB2-BD59-A6C34878D82A}">
                    <a16:rowId xmlns:a16="http://schemas.microsoft.com/office/drawing/2014/main" val="2901827232"/>
                  </a:ext>
                </a:extLst>
              </a:tr>
              <a:tr h="948483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Interval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Ordered data with meaningful differences between values, but </a:t>
                      </a:r>
                      <a:r>
                        <a:rPr lang="en-US" sz="1700" b="1">
                          <a:effectLst/>
                        </a:rPr>
                        <a:t>no true zero</a:t>
                      </a:r>
                      <a:r>
                        <a:rPr lang="en-US" sz="1700">
                          <a:effectLst/>
                        </a:rPr>
                        <a:t>.</a:t>
                      </a: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- Temperature in Celsius or Fahrenheit: 10°C, 20°C, 30°C (but 0°C doesn't mean "no temperature")</a:t>
                      </a:r>
                    </a:p>
                  </a:txBody>
                  <a:tcPr marL="89052" marR="89052" marT="44526" marB="44526" anchor="ctr"/>
                </a:tc>
                <a:extLst>
                  <a:ext uri="{0D108BD9-81ED-4DB2-BD59-A6C34878D82A}">
                    <a16:rowId xmlns:a16="http://schemas.microsoft.com/office/drawing/2014/main" val="169932830"/>
                  </a:ext>
                </a:extLst>
              </a:tr>
              <a:tr h="948483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Ratio</a:t>
                      </a:r>
                      <a:endParaRPr lang="en-IN" sz="1700">
                        <a:effectLst/>
                      </a:endParaRP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effectLst/>
                        </a:rPr>
                        <a:t>Like Interval, but has a </a:t>
                      </a:r>
                      <a:r>
                        <a:rPr lang="en-US" sz="1700" b="1" dirty="0">
                          <a:effectLst/>
                        </a:rPr>
                        <a:t>true zero</a:t>
                      </a:r>
                      <a:r>
                        <a:rPr lang="en-US" sz="1700" dirty="0">
                          <a:effectLst/>
                        </a:rPr>
                        <a:t>, allowing meaningful ratios.</a:t>
                      </a:r>
                    </a:p>
                  </a:txBody>
                  <a:tcPr marL="89052" marR="89052" marT="44526" marB="445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effectLst/>
                        </a:rPr>
                        <a:t>- Height, Weight, Age: 0 kg means no weight. </a:t>
                      </a:r>
                      <a:br>
                        <a:rPr lang="en-US" sz="1700" dirty="0">
                          <a:effectLst/>
                        </a:rPr>
                      </a:br>
                      <a:r>
                        <a:rPr lang="en-US" sz="1700" dirty="0">
                          <a:effectLst/>
                        </a:rPr>
                        <a:t>- Bank Account Balance: 0 dollars means no money.</a:t>
                      </a:r>
                    </a:p>
                  </a:txBody>
                  <a:tcPr marL="89052" marR="89052" marT="44526" marB="44526" anchor="ctr"/>
                </a:tc>
                <a:extLst>
                  <a:ext uri="{0D108BD9-81ED-4DB2-BD59-A6C34878D82A}">
                    <a16:rowId xmlns:a16="http://schemas.microsoft.com/office/drawing/2014/main" val="4025306152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C775A-2AFA-D582-B1E0-3D94FF49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</p:spTree>
    <p:extLst>
      <p:ext uri="{BB962C8B-B14F-4D97-AF65-F5344CB8AC3E}">
        <p14:creationId xmlns:p14="http://schemas.microsoft.com/office/powerpoint/2010/main" val="230632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09D1D-3F4C-6A0D-BEAD-D3592FF8E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216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Variable: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F5928-E173-2FEF-EC48-ACF55330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43" y="1274164"/>
            <a:ext cx="11212643" cy="49027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Random Variable describes the probabilities for an uncertain future numerical outcome of a random process</a:t>
            </a:r>
          </a:p>
          <a:p>
            <a:endParaRPr lang="en-US" dirty="0"/>
          </a:p>
          <a:p>
            <a:r>
              <a:rPr lang="en-US" dirty="0"/>
              <a:t>It is a Variable because it can take one of several possible values</a:t>
            </a:r>
          </a:p>
          <a:p>
            <a:endParaRPr lang="en-US" dirty="0"/>
          </a:p>
          <a:p>
            <a:r>
              <a:rPr lang="en-US" dirty="0"/>
              <a:t>It is random because there is some chance associated with each possible value</a:t>
            </a:r>
          </a:p>
          <a:p>
            <a:pPr marL="0" indent="0">
              <a:buNone/>
            </a:pPr>
            <a:r>
              <a:rPr lang="en-US" dirty="0"/>
              <a:t>Ex: Flipping a Coin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Ex: Picking a random card from the deck, what is the probability that this card will be(Hearts, </a:t>
            </a:r>
            <a:r>
              <a:rPr lang="en-US"/>
              <a:t>Diamonds, Clubs</a:t>
            </a:r>
            <a:r>
              <a:rPr lang="en-US" dirty="0"/>
              <a:t>, Spades)</a:t>
            </a:r>
          </a:p>
          <a:p>
            <a:pPr>
              <a:buFontTx/>
              <a:buChar char="-"/>
            </a:pPr>
            <a:r>
              <a:rPr lang="en-US" dirty="0"/>
              <a:t>Bigger that 10?</a:t>
            </a:r>
          </a:p>
          <a:p>
            <a:pPr>
              <a:buFontTx/>
              <a:buChar char="-"/>
            </a:pPr>
            <a:r>
              <a:rPr lang="en-US" dirty="0"/>
              <a:t>Equal to or bigger that 10?</a:t>
            </a:r>
          </a:p>
          <a:p>
            <a:pPr>
              <a:buFontTx/>
              <a:buChar char="-"/>
            </a:pPr>
            <a:r>
              <a:rPr lang="en-US" dirty="0"/>
              <a:t>Smaller than 3?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78F5E-3A02-7F41-8186-155950A2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F3908-005B-4266-2B5E-A526AB4B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6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03386D-8EC0-490A-9296-FAFCF1ADA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4720EDA-E218-43A9-8817-08F09F4DB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87C4F29-0DC4-4901-A2FD-7C88889E6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A781BA-2341-444F-811D-870633C4F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5EB27-564B-56C0-A2C2-290A7E43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52810"/>
            <a:ext cx="4804659" cy="2228759"/>
          </a:xfrm>
        </p:spPr>
        <p:txBody>
          <a:bodyPr anchor="b">
            <a:normAutofit/>
          </a:bodyPr>
          <a:lstStyle/>
          <a:p>
            <a:r>
              <a:rPr lang="en-US" dirty="0"/>
              <a:t>Probability Distribution: Can be with a range of 0 to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419BC-E832-E51B-F499-7110976F7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5" y="2959729"/>
            <a:ext cx="4804659" cy="334107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dirty="0"/>
              <a:t>The daily sales of laptops at a store(X)</a:t>
            </a:r>
          </a:p>
          <a:p>
            <a:pPr marL="0" indent="0">
              <a:buNone/>
            </a:pPr>
            <a:r>
              <a:rPr lang="en-US" sz="2400" dirty="0"/>
              <a:t>1. </a:t>
            </a:r>
            <a:r>
              <a:rPr lang="en-IN" sz="2400" dirty="0"/>
              <a:t>What is the probability of a sale?</a:t>
            </a:r>
          </a:p>
          <a:p>
            <a:pPr marL="0" indent="0">
              <a:buNone/>
            </a:pPr>
            <a:r>
              <a:rPr lang="en-IN" sz="2400" dirty="0"/>
              <a:t>2. What is the probability of selling at least three Laptop’s? </a:t>
            </a:r>
          </a:p>
        </p:txBody>
      </p:sp>
      <p:pic>
        <p:nvPicPr>
          <p:cNvPr id="15" name="Picture 1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A84688A6-DD24-A7CC-CC35-D54319D04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684" y="431705"/>
            <a:ext cx="5093140" cy="29030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DB149-77E4-E081-ACD8-F520FB20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2608" y="18288"/>
            <a:ext cx="475488" cy="475488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AB521CD7-1FEF-4B6D-863A-C3D71CD13E92}" type="slidenum">
              <a:rPr lang="en-IN" sz="900">
                <a:solidFill>
                  <a:schemeClr val="tx1">
                    <a:alpha val="70000"/>
                  </a:schemeClr>
                </a:solidFill>
              </a:rPr>
              <a:pPr algn="ctr">
                <a:spcAft>
                  <a:spcPts val="600"/>
                </a:spcAft>
              </a:pPr>
              <a:t>11</a:t>
            </a:fld>
            <a:endParaRPr lang="en-IN" sz="90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76A37-A274-4E59-E8BB-B3782992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269029" y="3246438"/>
            <a:ext cx="347472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900">
                <a:solidFill>
                  <a:schemeClr val="tx1">
                    <a:alpha val="70000"/>
                  </a:schemeClr>
                </a:solidFill>
              </a:rPr>
              <a:t>www.mouritech.com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D0A960-BC75-3050-EF4C-AF3D83ABA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8833"/>
              </p:ext>
            </p:extLst>
          </p:nvPr>
        </p:nvGraphicFramePr>
        <p:xfrm>
          <a:off x="6604350" y="3514863"/>
          <a:ext cx="4647808" cy="3171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197">
                  <a:extLst>
                    <a:ext uri="{9D8B030D-6E8A-4147-A177-3AD203B41FA5}">
                      <a16:colId xmlns:a16="http://schemas.microsoft.com/office/drawing/2014/main" val="424424893"/>
                    </a:ext>
                  </a:extLst>
                </a:gridCol>
                <a:gridCol w="3091611">
                  <a:extLst>
                    <a:ext uri="{9D8B030D-6E8A-4147-A177-3AD203B41FA5}">
                      <a16:colId xmlns:a16="http://schemas.microsoft.com/office/drawing/2014/main" val="3513054107"/>
                    </a:ext>
                  </a:extLst>
                </a:gridCol>
              </a:tblGrid>
              <a:tr h="528570">
                <a:tc>
                  <a:txBody>
                    <a:bodyPr/>
                    <a:lstStyle/>
                    <a:p>
                      <a:r>
                        <a:rPr lang="en-US" sz="2400"/>
                        <a:t>X</a:t>
                      </a:r>
                      <a:endParaRPr lang="en-IN" sz="2400"/>
                    </a:p>
                  </a:txBody>
                  <a:tcPr marL="120130" marR="120130" marT="60065" marB="60065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P(X=x)</a:t>
                      </a:r>
                      <a:endParaRPr lang="en-IN" sz="2400"/>
                    </a:p>
                  </a:txBody>
                  <a:tcPr marL="120130" marR="120130" marT="60065" marB="60065"/>
                </a:tc>
                <a:extLst>
                  <a:ext uri="{0D108BD9-81ED-4DB2-BD59-A6C34878D82A}">
                    <a16:rowId xmlns:a16="http://schemas.microsoft.com/office/drawing/2014/main" val="3203661625"/>
                  </a:ext>
                </a:extLst>
              </a:tr>
              <a:tr h="528570">
                <a:tc>
                  <a:txBody>
                    <a:bodyPr/>
                    <a:lstStyle/>
                    <a:p>
                      <a:r>
                        <a:rPr lang="en-US" sz="2400"/>
                        <a:t>0</a:t>
                      </a:r>
                    </a:p>
                  </a:txBody>
                  <a:tcPr marL="120130" marR="120130" marT="60065" marB="60065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0.40</a:t>
                      </a:r>
                      <a:endParaRPr lang="en-IN" sz="2400" dirty="0"/>
                    </a:p>
                  </a:txBody>
                  <a:tcPr marL="120130" marR="120130" marT="60065" marB="60065"/>
                </a:tc>
                <a:extLst>
                  <a:ext uri="{0D108BD9-81ED-4DB2-BD59-A6C34878D82A}">
                    <a16:rowId xmlns:a16="http://schemas.microsoft.com/office/drawing/2014/main" val="3616955782"/>
                  </a:ext>
                </a:extLst>
              </a:tr>
              <a:tr h="528570"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  <a:endParaRPr lang="en-IN" sz="2400"/>
                    </a:p>
                  </a:txBody>
                  <a:tcPr marL="120130" marR="120130" marT="60065" marB="60065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0.25</a:t>
                      </a:r>
                      <a:endParaRPr lang="en-IN" sz="2400"/>
                    </a:p>
                  </a:txBody>
                  <a:tcPr marL="120130" marR="120130" marT="60065" marB="60065"/>
                </a:tc>
                <a:extLst>
                  <a:ext uri="{0D108BD9-81ED-4DB2-BD59-A6C34878D82A}">
                    <a16:rowId xmlns:a16="http://schemas.microsoft.com/office/drawing/2014/main" val="3301159959"/>
                  </a:ext>
                </a:extLst>
              </a:tr>
              <a:tr h="528570"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  <a:endParaRPr lang="en-IN" sz="2400"/>
                    </a:p>
                  </a:txBody>
                  <a:tcPr marL="120130" marR="120130" marT="60065" marB="60065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0.2</a:t>
                      </a:r>
                      <a:endParaRPr lang="en-IN" sz="2400"/>
                    </a:p>
                  </a:txBody>
                  <a:tcPr marL="120130" marR="120130" marT="60065" marB="60065"/>
                </a:tc>
                <a:extLst>
                  <a:ext uri="{0D108BD9-81ED-4DB2-BD59-A6C34878D82A}">
                    <a16:rowId xmlns:a16="http://schemas.microsoft.com/office/drawing/2014/main" val="3572806935"/>
                  </a:ext>
                </a:extLst>
              </a:tr>
              <a:tr h="528570"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  <a:endParaRPr lang="en-IN" sz="2400"/>
                    </a:p>
                  </a:txBody>
                  <a:tcPr marL="120130" marR="120130" marT="60065" marB="60065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0.05</a:t>
                      </a:r>
                      <a:endParaRPr lang="en-IN" sz="2400"/>
                    </a:p>
                  </a:txBody>
                  <a:tcPr marL="120130" marR="120130" marT="60065" marB="60065"/>
                </a:tc>
                <a:extLst>
                  <a:ext uri="{0D108BD9-81ED-4DB2-BD59-A6C34878D82A}">
                    <a16:rowId xmlns:a16="http://schemas.microsoft.com/office/drawing/2014/main" val="4127657781"/>
                  </a:ext>
                </a:extLst>
              </a:tr>
              <a:tr h="528570">
                <a:tc>
                  <a:txBody>
                    <a:bodyPr/>
                    <a:lstStyle/>
                    <a:p>
                      <a:r>
                        <a:rPr lang="en-US" sz="2400"/>
                        <a:t>4</a:t>
                      </a:r>
                      <a:endParaRPr lang="en-IN" sz="2400"/>
                    </a:p>
                  </a:txBody>
                  <a:tcPr marL="120130" marR="120130" marT="60065" marB="60065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</a:t>
                      </a:r>
                      <a:endParaRPr lang="en-IN" sz="2400" dirty="0"/>
                    </a:p>
                  </a:txBody>
                  <a:tcPr marL="120130" marR="120130" marT="60065" marB="60065"/>
                </a:tc>
                <a:extLst>
                  <a:ext uri="{0D108BD9-81ED-4DB2-BD59-A6C34878D82A}">
                    <a16:rowId xmlns:a16="http://schemas.microsoft.com/office/drawing/2014/main" val="17218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37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B9765-72F9-B27F-990E-EF7B9622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73" y="136525"/>
            <a:ext cx="10515600" cy="1325563"/>
          </a:xfrm>
        </p:spPr>
        <p:txBody>
          <a:bodyPr/>
          <a:lstStyle/>
          <a:p>
            <a:r>
              <a:rPr lang="en-US" dirty="0"/>
              <a:t>Business Moments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C696B-190E-5774-A501-B8A21CB7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95" y="1439056"/>
            <a:ext cx="10889105" cy="473790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Measures of central tendency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Mean/Median/Mode are 3 important parameters to check any business to understand the base estimates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C8894-C55B-9B6C-2C7B-E7D0AFAA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77DE2-4031-12CA-9C11-E7962B46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57007BAC-49C8-2247-AE67-7A7D87D05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6859"/>
            <a:ext cx="10050278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5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524E-4DB1-05B0-0D42-D74185CF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3" y="136525"/>
            <a:ext cx="10515600" cy="954009"/>
          </a:xfrm>
        </p:spPr>
        <p:txBody>
          <a:bodyPr/>
          <a:lstStyle/>
          <a:p>
            <a:r>
              <a:rPr lang="en-US" dirty="0"/>
              <a:t>2. Measures of Dispersion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D0AB-1EBC-0A79-03FB-9F06FFC6E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23" y="1090534"/>
            <a:ext cx="11633616" cy="50864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Variance, Standard Deviation, Range were the 3 other business moment related parameters to check any distribution and how much is it from the center or mean will also add a lot to the business context.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Might we remember our School days where we heard &amp; learned the above functions.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167F7-8DB0-87ED-2892-7168CFD8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95FED-FBF3-34CB-8413-5F8F9F65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D8D37AAE-3529-3FD0-D120-B2E8750B5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2" y="2394204"/>
            <a:ext cx="9964541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37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F2E2-A662-D6A8-D8F3-7F0ED5CA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63" y="128469"/>
            <a:ext cx="10515600" cy="944380"/>
          </a:xfrm>
        </p:spPr>
        <p:txBody>
          <a:bodyPr/>
          <a:lstStyle/>
          <a:p>
            <a:r>
              <a:rPr lang="en-US" dirty="0"/>
              <a:t>Skewness &amp; Kurtosis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DC0C38-DEA7-7B38-3B9F-C501D34F7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002463"/>
              </p:ext>
            </p:extLst>
          </p:nvPr>
        </p:nvGraphicFramePr>
        <p:xfrm>
          <a:off x="838200" y="1424066"/>
          <a:ext cx="10515600" cy="1783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260969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0463600"/>
                    </a:ext>
                  </a:extLst>
                </a:gridCol>
              </a:tblGrid>
              <a:tr h="478611">
                <a:tc>
                  <a:txBody>
                    <a:bodyPr/>
                    <a:lstStyle/>
                    <a:p>
                      <a:r>
                        <a:rPr lang="en-US" dirty="0"/>
                        <a:t>Skewness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Kurtosis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466646"/>
                  </a:ext>
                </a:extLst>
              </a:tr>
              <a:tr h="478611">
                <a:tc>
                  <a:txBody>
                    <a:bodyPr/>
                    <a:lstStyle/>
                    <a:p>
                      <a:r>
                        <a:rPr lang="en-US" dirty="0"/>
                        <a:t>A measure of asymmetry in the distribution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measure of the </a:t>
                      </a:r>
                      <a:r>
                        <a:rPr lang="en-US" dirty="0" err="1"/>
                        <a:t>Peakedness</a:t>
                      </a:r>
                      <a:r>
                        <a:rPr lang="en-US" dirty="0"/>
                        <a:t> of the distribution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53843"/>
                  </a:ext>
                </a:extLst>
              </a:tr>
              <a:tr h="826096">
                <a:tc>
                  <a:txBody>
                    <a:bodyPr/>
                    <a:lstStyle/>
                    <a:p>
                      <a:r>
                        <a:rPr lang="en-US" dirty="0"/>
                        <a:t>Negative Skewness implies mass of the distribution is concentrated on the right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Symmetric distributions, Negative kurtosis implies wider peak and thinner tails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27177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0A951-162E-4F29-12B7-BF0FA2882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1CEFF-88A0-F174-7280-68CBC606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 descr="A diagram of a positive and negative&#10;&#10;AI-generated content may be incorrect.">
            <a:extLst>
              <a:ext uri="{FF2B5EF4-FFF2-40B4-BE49-F238E27FC236}">
                <a16:creationId xmlns:a16="http://schemas.microsoft.com/office/drawing/2014/main" id="{4C23F58F-2CBB-5AD7-305D-396773E35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541" y="3442908"/>
            <a:ext cx="7152026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70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A805-A808-4108-A153-E5AE8E5D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Plot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2355D-3455-7DFB-111D-54AB7E584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Range(IQR): The middle half of a data set falls within the inter-quartile range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C8FE0-6A32-7ECB-EA09-8BB26239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5C43D-7C32-5F83-8715-CB8AA05F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D083C754-8668-A686-18EB-5C5D58AD8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2828131"/>
            <a:ext cx="2857500" cy="3438525"/>
          </a:xfrm>
          <a:prstGeom prst="rect">
            <a:avLst/>
          </a:prstGeom>
        </p:spPr>
      </p:pic>
      <p:pic>
        <p:nvPicPr>
          <p:cNvPr id="9" name="Picture 8" descr="A diagram of a number of data&#10;&#10;AI-generated content may be incorrect.">
            <a:extLst>
              <a:ext uri="{FF2B5EF4-FFF2-40B4-BE49-F238E27FC236}">
                <a16:creationId xmlns:a16="http://schemas.microsoft.com/office/drawing/2014/main" id="{59FC4788-12ED-3142-8F33-C0DDA6BAF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698" y="2739270"/>
            <a:ext cx="7767404" cy="388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1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A97F8-CDCB-FDB6-71BB-7F5046D8B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Visualizations: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12B92-D897-CD02-02E4-29C20243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N" sz="1100">
                <a:solidFill>
                  <a:srgbClr val="FFFFFF"/>
                </a:solidFill>
              </a:rPr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29E3E-4682-2406-CF4E-5341712B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521CD7-1FEF-4B6D-863A-C3D71CD13E92}" type="slidenum">
              <a:rPr lang="en-IN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IN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6C697DF-B9A0-17BC-F63D-C15702999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749276"/>
              </p:ext>
            </p:extLst>
          </p:nvPr>
        </p:nvGraphicFramePr>
        <p:xfrm>
          <a:off x="736867" y="2627984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11821A-B4ED-EC81-14D0-5A7682FC217C}"/>
              </a:ext>
            </a:extLst>
          </p:cNvPr>
          <p:cNvSpPr txBox="1"/>
          <p:nvPr/>
        </p:nvSpPr>
        <p:spPr>
          <a:xfrm>
            <a:off x="614597" y="1919161"/>
            <a:ext cx="11089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Individual Visualization will help us to make certain insights from the given distributions.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813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D6C8-E831-BE79-CE49-001DB846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35" y="182181"/>
            <a:ext cx="10515600" cy="714167"/>
          </a:xfrm>
        </p:spPr>
        <p:txBody>
          <a:bodyPr>
            <a:normAutofit/>
          </a:bodyPr>
          <a:lstStyle/>
          <a:p>
            <a:r>
              <a:rPr lang="en-IN" sz="3200" dirty="0"/>
              <a:t>Normal Distribution vs Standard Normal Distribution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286FBF-FFF7-3FFE-B6D5-8A72A2AEA4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259486"/>
              </p:ext>
            </p:extLst>
          </p:nvPr>
        </p:nvGraphicFramePr>
        <p:xfrm>
          <a:off x="328535" y="1381013"/>
          <a:ext cx="10515600" cy="3291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8283277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99585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30102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Concept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Explanation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Layman Example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825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Normal Distribution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 bell-shaped curve where most of the value's cluster around the center (mean), and fewer values exist farther from the mean.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- Heights of people in a city. 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- Most people are around average height; very tall or very short people are rare.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245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Standard Normal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 special type of normal distribution where: 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- Mean = 0 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- Standard Deviation = 1. 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It's a "normalized" version of the normal curve.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- Imagine converting everyone's height to a scale where "0" is exactly average, +1 is taller by 1 SD, -1 is shorter by 1 SD.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68017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D52E9-B5EF-7578-A8ED-70BBC54F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64C86-7972-9756-D46B-9CA54B27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17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2DAF5B-984F-078A-CD50-793F92F7A744}"/>
              </a:ext>
            </a:extLst>
          </p:cNvPr>
          <p:cNvSpPr txBox="1"/>
          <p:nvPr/>
        </p:nvSpPr>
        <p:spPr>
          <a:xfrm>
            <a:off x="328535" y="5201587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 Distribution can be any mean and any standard deviation</a:t>
            </a:r>
          </a:p>
          <a:p>
            <a:r>
              <a:rPr lang="en-US" dirty="0"/>
              <a:t>Standard normal distribution is always centered at 0 and always has a spread of 1</a:t>
            </a:r>
          </a:p>
          <a:p>
            <a:r>
              <a:rPr lang="en-US" dirty="0"/>
              <a:t>We standardize data using Z-Score methos </a:t>
            </a:r>
            <a:r>
              <a:rPr lang="en-IN" dirty="0"/>
              <a:t>Z=</a:t>
            </a:r>
            <a:r>
              <a:rPr lang="el-GR" dirty="0"/>
              <a:t> (</a:t>
            </a:r>
            <a:r>
              <a:rPr lang="en-IN" dirty="0"/>
              <a:t>X−</a:t>
            </a:r>
            <a:r>
              <a:rPr lang="el-GR" dirty="0"/>
              <a:t>μ)​</a:t>
            </a:r>
            <a:r>
              <a:rPr lang="en-US" dirty="0"/>
              <a:t>/</a:t>
            </a:r>
            <a:r>
              <a:rPr lang="el-GR" dirty="0"/>
              <a:t>σ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71028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7589-D9FC-1AFA-5D4B-94ADCDDB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2" y="136525"/>
            <a:ext cx="10515600" cy="1325563"/>
          </a:xfrm>
        </p:spPr>
        <p:txBody>
          <a:bodyPr/>
          <a:lstStyle/>
          <a:p>
            <a:r>
              <a:rPr lang="en-US" dirty="0"/>
              <a:t>Python Installation:</a:t>
            </a:r>
            <a:br>
              <a:rPr lang="en-US" dirty="0"/>
            </a:br>
            <a:r>
              <a:rPr lang="en-US" dirty="0"/>
              <a:t>Link to install </a:t>
            </a:r>
            <a:r>
              <a:rPr lang="en-IN" dirty="0">
                <a:hlinkClick r:id="rId2"/>
              </a:rPr>
              <a:t>Download Python | Python.org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63914E-D596-1F86-8365-B71FCDA25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0199" y="2458387"/>
            <a:ext cx="10843601" cy="38979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A0FEB-F071-255C-6C99-FE1FF4EA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www.mouritech.com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8B52E-7FE5-1EF5-1336-63B28AA7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D7-1FEF-4B6D-863A-C3D71CD13E92}" type="slidenum">
              <a:rPr lang="en-IN" smtClean="0"/>
              <a:t>18</a:t>
            </a:fld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E2F1C8-66C1-DD94-962A-68C5A5CF2579}"/>
              </a:ext>
            </a:extLst>
          </p:cNvPr>
          <p:cNvCxnSpPr/>
          <p:nvPr/>
        </p:nvCxnSpPr>
        <p:spPr>
          <a:xfrm>
            <a:off x="899410" y="3537679"/>
            <a:ext cx="1064301" cy="10643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99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AFB53C-9F36-4070-B147-D53377FEF688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4256</TotalTime>
  <Words>1489</Words>
  <Application>Microsoft Office PowerPoint</Application>
  <PresentationFormat>Widescreen</PresentationFormat>
  <Paragraphs>222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Segoe UI Semibold</vt:lpstr>
      <vt:lpstr>Office Theme</vt:lpstr>
      <vt:lpstr>ML &amp; DS Training -  Python </vt:lpstr>
      <vt:lpstr>What is Big Data?</vt:lpstr>
      <vt:lpstr>Why Data Science, Machine Learning, and AI Are Essential for Every Modern Company</vt:lpstr>
      <vt:lpstr>From Intuition to Intelligence — Smarter, Faster, Better</vt:lpstr>
      <vt:lpstr>PowerPoint Presentation</vt:lpstr>
      <vt:lpstr>PowerPoint Presentation</vt:lpstr>
      <vt:lpstr>PowerPoint Presentation</vt:lpstr>
      <vt:lpstr>Basics of Statistics:</vt:lpstr>
      <vt:lpstr>PowerPoint Presentation</vt:lpstr>
      <vt:lpstr>Random Variable:</vt:lpstr>
      <vt:lpstr>Probability Distribution: Can be with a range of 0 to 1</vt:lpstr>
      <vt:lpstr>Business Moments</vt:lpstr>
      <vt:lpstr>2. Measures of Dispersion</vt:lpstr>
      <vt:lpstr>Skewness &amp; Kurtosis</vt:lpstr>
      <vt:lpstr>Box Plot</vt:lpstr>
      <vt:lpstr>Visualizations:</vt:lpstr>
      <vt:lpstr>Normal Distribution vs Standard Normal Distribution</vt:lpstr>
      <vt:lpstr>Python Installation: Link to install Download Python | Python.org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Rajashekar MADISHETTI</dc:creator>
  <cp:lastModifiedBy>Rajashekar MADISHETTI</cp:lastModifiedBy>
  <cp:revision>13</cp:revision>
  <dcterms:created xsi:type="dcterms:W3CDTF">2025-04-27T08:52:29Z</dcterms:created>
  <dcterms:modified xsi:type="dcterms:W3CDTF">2025-05-01T12:22:36Z</dcterms:modified>
</cp:coreProperties>
</file>